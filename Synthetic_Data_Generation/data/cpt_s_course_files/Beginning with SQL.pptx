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92" r:id="rId3"/>
    <p:sldId id="257" r:id="rId4"/>
    <p:sldId id="258" r:id="rId5"/>
    <p:sldId id="259" r:id="rId6"/>
    <p:sldId id="260" r:id="rId7"/>
    <p:sldId id="262" r:id="rId8"/>
    <p:sldId id="263" r:id="rId9"/>
    <p:sldId id="288" r:id="rId10"/>
    <p:sldId id="265" r:id="rId11"/>
    <p:sldId id="266" r:id="rId12"/>
    <p:sldId id="289" r:id="rId13"/>
    <p:sldId id="290" r:id="rId14"/>
    <p:sldId id="267" r:id="rId15"/>
    <p:sldId id="272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91" r:id="rId31"/>
    <p:sldId id="286" r:id="rId32"/>
  </p:sldIdLst>
  <p:sldSz cx="9144000" cy="5143500" type="screen16x9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9" d="100"/>
          <a:sy n="99" d="100"/>
        </p:scale>
        <p:origin x="340" y="-6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3A29E-ED23-49C6-95B6-4DEE4CC4ADA5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CA549-5265-4CD5-980E-4E17386BAD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fld id="{417A330C-E29E-436C-9F15-5D5A9DB3AC89}" type="datetime1">
              <a:rPr lang="en-US" smtClean="0"/>
              <a:t>1/6/2025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2736056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2736056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09B07-330E-409A-BC56-9B28A2C7317B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/>
          <a:p>
            <a:fld id="{B3BC9197-3290-4AEF-A96D-D622F2618A76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11F8-9FDC-490B-942B-AA2ADD1F735E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802FE-2B26-4617-B903-A2A98553C588}" type="datetime1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5CB-257C-455A-B78D-664B0BB92B3D}" type="datetime1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A0476-C772-4AD8-B96F-5D9FEA2B1446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6FB4-F2E4-42B1-95C1-B63246C0AA01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970-38AA-46F3-80AB-8F5A60694F5C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75642"/>
            <a:ext cx="182880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8C66-468C-4C6F-BC8F-7C5123D320E7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0E85-8740-409A-A116-4BBDF2291332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SQL: Week-1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055F5D8-4712-4D75-A273-AD996654FBA9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SQL: Week-1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003166-C67D-4BCF-9776-B742EDAF82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43050"/>
            <a:ext cx="6858000" cy="742950"/>
          </a:xfrm>
        </p:spPr>
        <p:txBody>
          <a:bodyPr/>
          <a:lstStyle/>
          <a:p>
            <a:r>
              <a:rPr lang="en-US" b="1" dirty="0"/>
              <a:t>Beginning with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800350"/>
            <a:ext cx="6858000" cy="400050"/>
          </a:xfrm>
        </p:spPr>
        <p:txBody>
          <a:bodyPr>
            <a:noAutofit/>
          </a:bodyPr>
          <a:lstStyle/>
          <a:p>
            <a:r>
              <a:rPr lang="en-US" sz="1600" dirty="0"/>
              <a:t>Parteek Kumar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Non Procedural nature of SQL</a:t>
            </a:r>
          </a:p>
          <a:p>
            <a:r>
              <a:rPr lang="en-US" dirty="0"/>
              <a:t>Strengths of SQL</a:t>
            </a:r>
          </a:p>
          <a:p>
            <a:r>
              <a:rPr lang="en-US" dirty="0"/>
              <a:t>Types of SQL Statements</a:t>
            </a:r>
          </a:p>
          <a:p>
            <a:r>
              <a:rPr lang="en-US" dirty="0"/>
              <a:t>Basic Data types of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/>
              <a:t>S: Structured</a:t>
            </a:r>
          </a:p>
          <a:p>
            <a:pPr algn="just">
              <a:buNone/>
            </a:pPr>
            <a:r>
              <a:rPr lang="en-US" dirty="0"/>
              <a:t>Q: Query</a:t>
            </a:r>
          </a:p>
          <a:p>
            <a:pPr algn="just">
              <a:buNone/>
            </a:pPr>
            <a:r>
              <a:rPr lang="en-US" dirty="0"/>
              <a:t>L: Language</a:t>
            </a:r>
          </a:p>
          <a:p>
            <a:pPr algn="just"/>
            <a:r>
              <a:rPr lang="en-US" dirty="0"/>
              <a:t>SQL is used to make request to retrieve data from database.</a:t>
            </a:r>
          </a:p>
          <a:p>
            <a:pPr algn="just"/>
            <a:r>
              <a:rPr lang="en-US" dirty="0"/>
              <a:t>The process of requesting and getting back the results from database is known as Query the database. And language used to perform this task is known as Structured Query Language.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is Non Procedural Language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User need not write a program to perform database tasks like insert, update, delete and retrieve.</a:t>
            </a:r>
          </a:p>
          <a:p>
            <a:pPr algn="just"/>
            <a:r>
              <a:rPr lang="en-US" dirty="0"/>
              <a:t>He just need to provide his request in a structured manner to the system and system takes care of his request, i.e., it process his request and provide the desired result without need to write a single line of code. </a:t>
            </a:r>
          </a:p>
          <a:p>
            <a:pPr algn="just"/>
            <a:r>
              <a:rPr lang="en-US" dirty="0"/>
              <a:t>User has to provide the information to computer “what is require to be perform”, but need not to provide the details about “how to perform the task”.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/>
              <a:t>SQL is Non Procedural Language </a:t>
            </a:r>
            <a:br>
              <a:rPr lang="en-US" sz="2000" b="1" dirty="0"/>
            </a:br>
            <a:r>
              <a:rPr lang="en-US" sz="2000" b="1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User does not write the procedure/algorithm/program to get the result simply he has to provide his request in a structured manner, that’s why it is called as Structured Query Language.</a:t>
            </a:r>
          </a:p>
          <a:p>
            <a:pPr algn="just"/>
            <a:r>
              <a:rPr lang="en-US" dirty="0"/>
              <a:t>While in procedural languages like C, user has to write the procedure/algorithm/program for task he wishes to execute on the computer. </a:t>
            </a:r>
          </a:p>
          <a:p>
            <a:pPr algn="just"/>
            <a:r>
              <a:rPr lang="en-US" dirty="0"/>
              <a:t>Even to find the sum of two numbers in C language, user has to write the program while in non-procedural language like SQL user need not to write the program.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Strengths of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Due to non procedural nature of SQL it becomes very simple and easy to use. </a:t>
            </a:r>
          </a:p>
          <a:p>
            <a:pPr algn="just"/>
            <a:r>
              <a:rPr lang="en-US" dirty="0"/>
              <a:t>User is able to perform all database tasks, i.e., insert, update, delete and retrieve without writing the programs.</a:t>
            </a:r>
          </a:p>
          <a:p>
            <a:pPr algn="just"/>
            <a:r>
              <a:rPr lang="en-US" dirty="0"/>
              <a:t>And this is the major reason for the popularity of SQL.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DDL (Data Definition Language)</a:t>
            </a:r>
          </a:p>
          <a:p>
            <a:pPr lvl="1"/>
            <a:r>
              <a:rPr lang="en-US" dirty="0"/>
              <a:t>Create</a:t>
            </a:r>
          </a:p>
          <a:p>
            <a:pPr lvl="1"/>
            <a:r>
              <a:rPr lang="en-US" dirty="0"/>
              <a:t>Alter</a:t>
            </a:r>
          </a:p>
          <a:p>
            <a:pPr lvl="1"/>
            <a:r>
              <a:rPr lang="en-US" dirty="0"/>
              <a:t>Drop</a:t>
            </a:r>
          </a:p>
          <a:p>
            <a:r>
              <a:rPr lang="en-US" dirty="0"/>
              <a:t>DML (Data Manipulation Language)</a:t>
            </a:r>
          </a:p>
          <a:p>
            <a:pPr lvl="1"/>
            <a:r>
              <a:rPr lang="en-US" dirty="0"/>
              <a:t>Insert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Delete</a:t>
            </a:r>
          </a:p>
          <a:p>
            <a:pPr lvl="1"/>
            <a:r>
              <a:rPr lang="en-US" dirty="0"/>
              <a:t>Select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DCL (Data Control Language)</a:t>
            </a:r>
          </a:p>
          <a:p>
            <a:pPr lvl="1"/>
            <a:r>
              <a:rPr lang="en-US" dirty="0"/>
              <a:t>Commit</a:t>
            </a:r>
          </a:p>
          <a:p>
            <a:pPr lvl="1"/>
            <a:r>
              <a:rPr lang="en-US" dirty="0"/>
              <a:t>Rollback</a:t>
            </a:r>
          </a:p>
          <a:p>
            <a:pPr lvl="1"/>
            <a:r>
              <a:rPr lang="en-US" dirty="0"/>
              <a:t>Grant</a:t>
            </a:r>
          </a:p>
          <a:p>
            <a:pPr lvl="1"/>
            <a:r>
              <a:rPr lang="en-US" dirty="0"/>
              <a:t>Revoke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Data types of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Number</a:t>
            </a:r>
          </a:p>
          <a:p>
            <a:pPr lvl="1" algn="just"/>
            <a:r>
              <a:rPr lang="en-US" dirty="0"/>
              <a:t>Used for numeric data like WSU ID, Marks, Age etc.</a:t>
            </a:r>
          </a:p>
          <a:p>
            <a:pPr algn="just"/>
            <a:r>
              <a:rPr lang="en-US" dirty="0"/>
              <a:t>Char</a:t>
            </a:r>
          </a:p>
          <a:p>
            <a:pPr lvl="1" algn="just"/>
            <a:r>
              <a:rPr lang="en-US" dirty="0"/>
              <a:t>Used for alphanumeric data like Name, Major, Address etc.</a:t>
            </a:r>
          </a:p>
          <a:p>
            <a:pPr algn="just"/>
            <a:r>
              <a:rPr lang="en-US" dirty="0"/>
              <a:t>Date</a:t>
            </a:r>
          </a:p>
          <a:p>
            <a:pPr lvl="1" algn="just"/>
            <a:r>
              <a:rPr lang="en-US" dirty="0"/>
              <a:t>Used for data type of field like Date of Birth, Date of Joining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90600" y="685800"/>
            <a:ext cx="6858000" cy="7429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Performing Basics operations of database  with SQL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2741B-2BF7-1023-D7B8-771B0482F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Performing Basics operations of database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To understand these operations, let us suppose our task is to maintain the basic database of students. To create the database of student following are the steps need to be performed.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Step 1: To decide about the name of Columns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Columns</a:t>
            </a:r>
          </a:p>
          <a:p>
            <a:pPr algn="just">
              <a:buNone/>
            </a:pPr>
            <a:r>
              <a:rPr lang="en-US" dirty="0"/>
              <a:t>		</a:t>
            </a:r>
            <a:r>
              <a:rPr lang="en-US" dirty="0" err="1"/>
              <a:t>Student_ID</a:t>
            </a:r>
            <a:endParaRPr lang="en-US" dirty="0"/>
          </a:p>
          <a:p>
            <a:pPr algn="just">
              <a:buNone/>
            </a:pPr>
            <a:r>
              <a:rPr lang="en-US" dirty="0"/>
              <a:t>		Name</a:t>
            </a:r>
          </a:p>
          <a:p>
            <a:pPr algn="just">
              <a:buNone/>
            </a:pPr>
            <a:r>
              <a:rPr lang="en-US" dirty="0"/>
              <a:t>		Major</a:t>
            </a:r>
          </a:p>
          <a:p>
            <a:pPr algn="just">
              <a:buNone/>
            </a:pPr>
            <a:r>
              <a:rPr lang="en-US" dirty="0"/>
              <a:t>		Marks</a:t>
            </a:r>
          </a:p>
          <a:p>
            <a:pPr algn="just">
              <a:buNone/>
            </a:pPr>
            <a:r>
              <a:rPr lang="en-US" dirty="0"/>
              <a:t>		</a:t>
            </a:r>
            <a:r>
              <a:rPr lang="en-US" dirty="0" err="1"/>
              <a:t>DateOfBirth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Step 2: To decide about data types of Columns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Oracle Basic data types: </a:t>
            </a:r>
          </a:p>
          <a:p>
            <a:pPr lvl="1" algn="just"/>
            <a:r>
              <a:rPr lang="en-US" dirty="0"/>
              <a:t>Number, Character, Date</a:t>
            </a:r>
          </a:p>
          <a:p>
            <a:pPr algn="just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226250"/>
              </p:ext>
            </p:extLst>
          </p:nvPr>
        </p:nvGraphicFramePr>
        <p:xfrm>
          <a:off x="1447800" y="1943100"/>
          <a:ext cx="6096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/>
                        <a:t>Column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Type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 err="1"/>
                        <a:t>Student_ID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Major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Marks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DOB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Date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Step 3: To decide about size of Columns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57427"/>
              </p:ext>
            </p:extLst>
          </p:nvPr>
        </p:nvGraphicFramePr>
        <p:xfrm>
          <a:off x="1371600" y="1428750"/>
          <a:ext cx="6096000" cy="1786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/>
                        <a:t>Column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Type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Size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 err="1"/>
                        <a:t>Student_ID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Major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Marks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DOB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Creation of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dirty="0"/>
              <a:t>CRETAE TABLE </a:t>
            </a:r>
            <a:r>
              <a:rPr lang="en-US" dirty="0" err="1"/>
              <a:t>table_name</a:t>
            </a:r>
            <a:r>
              <a:rPr lang="en-US" dirty="0"/>
              <a:t> </a:t>
            </a:r>
          </a:p>
          <a:p>
            <a:pPr algn="just">
              <a:buNone/>
            </a:pPr>
            <a:r>
              <a:rPr lang="en-US" dirty="0"/>
              <a:t>(</a:t>
            </a:r>
          </a:p>
          <a:p>
            <a:pPr algn="just">
              <a:buNone/>
            </a:pPr>
            <a:r>
              <a:rPr lang="en-US" dirty="0"/>
              <a:t>Column_name1 </a:t>
            </a:r>
            <a:r>
              <a:rPr lang="en-US" dirty="0" err="1"/>
              <a:t>data_type</a:t>
            </a:r>
            <a:r>
              <a:rPr lang="en-US" dirty="0"/>
              <a:t>(size),</a:t>
            </a:r>
          </a:p>
          <a:p>
            <a:pPr algn="just">
              <a:buNone/>
            </a:pPr>
            <a:r>
              <a:rPr lang="en-US" dirty="0"/>
              <a:t>Column_name2 </a:t>
            </a:r>
            <a:r>
              <a:rPr lang="en-US" dirty="0" err="1"/>
              <a:t>data_type</a:t>
            </a:r>
            <a:r>
              <a:rPr lang="en-US" dirty="0"/>
              <a:t>(size),</a:t>
            </a:r>
          </a:p>
          <a:p>
            <a:pPr algn="just">
              <a:buNone/>
            </a:pPr>
            <a:r>
              <a:rPr lang="en-US" dirty="0"/>
              <a:t>Column_name3 </a:t>
            </a:r>
            <a:r>
              <a:rPr lang="en-US" dirty="0" err="1"/>
              <a:t>data_type</a:t>
            </a:r>
            <a:r>
              <a:rPr lang="en-US" dirty="0"/>
              <a:t>(size),</a:t>
            </a:r>
          </a:p>
          <a:p>
            <a:pPr algn="just">
              <a:buNone/>
            </a:pPr>
            <a:r>
              <a:rPr lang="en-US" dirty="0"/>
              <a:t>…………</a:t>
            </a:r>
          </a:p>
          <a:p>
            <a:pPr algn="just">
              <a:buNone/>
            </a:pPr>
            <a:r>
              <a:rPr lang="en-US" dirty="0"/>
              <a:t>);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dirty="0"/>
              <a:t>CREATE TABLE student </a:t>
            </a:r>
          </a:p>
          <a:p>
            <a:pPr algn="just">
              <a:buNone/>
            </a:pPr>
            <a:r>
              <a:rPr lang="en-US" dirty="0"/>
              <a:t>	(</a:t>
            </a:r>
          </a:p>
          <a:p>
            <a:pPr algn="just">
              <a:buNone/>
            </a:pPr>
            <a:r>
              <a:rPr lang="en-US" dirty="0"/>
              <a:t>	</a:t>
            </a:r>
            <a:r>
              <a:rPr lang="en-US" dirty="0" err="1"/>
              <a:t>Student_ID</a:t>
            </a:r>
            <a:r>
              <a:rPr lang="en-US" dirty="0"/>
              <a:t> Number(4), </a:t>
            </a:r>
          </a:p>
          <a:p>
            <a:pPr algn="just">
              <a:buNone/>
            </a:pPr>
            <a:r>
              <a:rPr lang="en-US" dirty="0"/>
              <a:t>	Name Char(15), </a:t>
            </a:r>
          </a:p>
          <a:p>
            <a:pPr algn="just">
              <a:buNone/>
            </a:pPr>
            <a:r>
              <a:rPr lang="en-US" dirty="0"/>
              <a:t>	Major Char(10), </a:t>
            </a:r>
          </a:p>
          <a:p>
            <a:pPr algn="just">
              <a:buNone/>
            </a:pPr>
            <a:r>
              <a:rPr lang="en-US" dirty="0"/>
              <a:t>	Marks Number(4),</a:t>
            </a:r>
          </a:p>
          <a:p>
            <a:pPr algn="just">
              <a:buNone/>
            </a:pPr>
            <a:r>
              <a:rPr lang="en-US" dirty="0"/>
              <a:t>	DOB Date</a:t>
            </a:r>
          </a:p>
          <a:p>
            <a:pPr algn="just">
              <a:buNone/>
            </a:pPr>
            <a:r>
              <a:rPr lang="en-US" dirty="0"/>
              <a:t>	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Description of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DESC[RIBE]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DESC STUDENT;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Insertion of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Syntax</a:t>
            </a:r>
          </a:p>
          <a:p>
            <a:pPr>
              <a:buNone/>
            </a:pPr>
            <a:r>
              <a:rPr lang="en-US" sz="2800" dirty="0"/>
              <a:t>	INSERT INTO </a:t>
            </a:r>
            <a:r>
              <a:rPr lang="en-US" sz="2800" dirty="0" err="1"/>
              <a:t>table_name</a:t>
            </a:r>
            <a:r>
              <a:rPr lang="en-US" sz="2800" dirty="0"/>
              <a:t> VALUES(value_of_column1, value_of_column2, value_of_column3, value_of_column4,…); </a:t>
            </a:r>
          </a:p>
          <a:p>
            <a:pPr algn="just"/>
            <a:endParaRPr lang="en-US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/>
              <a:t>SQL&gt;INSERT into student values(1, ‘David’, ‘CS’, 100, ‘12-DEC-1989’);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Following statement will be used to insert record of first student: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Points for Insertion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SQL&gt;INSERT into student values(1, ‘David’, ‘CS’, 100, ‘12-DEC-1989’);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Character and date values should be supplied in single quotes.</a:t>
            </a:r>
          </a:p>
          <a:p>
            <a:pPr algn="just"/>
            <a:r>
              <a:rPr lang="en-US" dirty="0"/>
              <a:t>Date default format is ‘DD-MON-YYYY’.</a:t>
            </a:r>
          </a:p>
          <a:p>
            <a:pPr algn="just"/>
            <a:r>
              <a:rPr lang="en-US" dirty="0"/>
              <a:t>Sequence of values.</a:t>
            </a:r>
          </a:p>
          <a:p>
            <a:pPr algn="just"/>
            <a:r>
              <a:rPr lang="en-US" dirty="0"/>
              <a:t>Total number of supplied values.</a:t>
            </a:r>
          </a:p>
          <a:p>
            <a:pPr algn="just"/>
            <a:r>
              <a:rPr lang="en-US" dirty="0"/>
              <a:t>Character values are case sensitive.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Insertion of Some more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INSERT into student values(2, ‘Sam’, ‘EE’, 100, ‘15-MAY-1990’);</a:t>
            </a:r>
          </a:p>
          <a:p>
            <a:r>
              <a:rPr lang="en-US" dirty="0"/>
              <a:t>INSERT into student values(3, ‘Tim’, ‘ME’, 120, ‘2-JAN-1991’);</a:t>
            </a:r>
          </a:p>
          <a:p>
            <a:r>
              <a:rPr lang="en-US" dirty="0"/>
              <a:t>INSERT into student values(4, ‘Jack’, ‘cs’, 110, ‘12-JUN-1992’);</a:t>
            </a:r>
          </a:p>
          <a:p>
            <a:r>
              <a:rPr lang="en-US" dirty="0"/>
              <a:t>INSERT into student values(5, ‘</a:t>
            </a:r>
            <a:r>
              <a:rPr lang="en-US" dirty="0" err="1"/>
              <a:t>Ruhi</a:t>
            </a:r>
            <a:r>
              <a:rPr lang="en-US" dirty="0"/>
              <a:t>’, ‘MS, 130, ‘20-JUL-1990’);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Retrieval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retrieve or view student data, we have to use SELECT statement whose syntax given below:</a:t>
            </a:r>
          </a:p>
          <a:p>
            <a:pPr>
              <a:buNone/>
            </a:pPr>
            <a:r>
              <a:rPr lang="en-US" dirty="0"/>
              <a:t>	SELECT  &lt;</a:t>
            </a:r>
            <a:r>
              <a:rPr lang="en-US" dirty="0" err="1"/>
              <a:t>columname</a:t>
            </a:r>
            <a:r>
              <a:rPr lang="en-US" dirty="0"/>
              <a:t> &gt; </a:t>
            </a:r>
          </a:p>
          <a:p>
            <a:pPr>
              <a:buNone/>
            </a:pPr>
            <a:r>
              <a:rPr lang="en-US" dirty="0"/>
              <a:t>	FROM  &lt;</a:t>
            </a:r>
            <a:r>
              <a:rPr lang="en-US" dirty="0" err="1"/>
              <a:t>tablename</a:t>
            </a:r>
            <a:r>
              <a:rPr lang="en-US" dirty="0"/>
              <a:t> &gt;</a:t>
            </a:r>
          </a:p>
          <a:p>
            <a:pPr>
              <a:buNone/>
            </a:pPr>
            <a:r>
              <a:rPr lang="en-US" dirty="0"/>
              <a:t>	 [where &lt;condition&gt;]</a:t>
            </a:r>
          </a:p>
          <a:p>
            <a:pPr>
              <a:buNone/>
            </a:pPr>
            <a:r>
              <a:rPr lang="en-US" dirty="0"/>
              <a:t>	 [order by &lt;expression&gt;] 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/>
              <a:t>Retrieval of Data</a:t>
            </a:r>
            <a:br>
              <a:rPr lang="en-US" sz="2000" b="1" dirty="0"/>
            </a:br>
            <a:r>
              <a:rPr lang="en-US" sz="2000" b="1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display </a:t>
            </a:r>
            <a:r>
              <a:rPr lang="en-US" dirty="0" err="1"/>
              <a:t>Roll_Number</a:t>
            </a:r>
            <a:r>
              <a:rPr lang="en-US" dirty="0"/>
              <a:t> and Name of all the students.</a:t>
            </a:r>
          </a:p>
          <a:p>
            <a:pPr>
              <a:buNone/>
            </a:pPr>
            <a:r>
              <a:rPr lang="en-US" dirty="0"/>
              <a:t>SQL&gt;Select </a:t>
            </a:r>
            <a:r>
              <a:rPr lang="en-US" dirty="0" err="1"/>
              <a:t>Student_ID</a:t>
            </a:r>
            <a:r>
              <a:rPr lang="en-US" dirty="0"/>
              <a:t>, Name from student;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/>
              <a:t>Retrieval of Data</a:t>
            </a:r>
            <a:br>
              <a:rPr lang="en-US" sz="2000" b="1" dirty="0"/>
            </a:br>
            <a:r>
              <a:rPr lang="en-US" sz="2000" b="1" dirty="0"/>
              <a:t>Contd..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Use of Wildcard(*) character</a:t>
            </a:r>
            <a:endParaRPr lang="en-US" dirty="0"/>
          </a:p>
          <a:p>
            <a:pPr>
              <a:buNone/>
            </a:pPr>
            <a:r>
              <a:rPr lang="en-US" dirty="0"/>
              <a:t>	For example:</a:t>
            </a:r>
          </a:p>
          <a:p>
            <a:pPr>
              <a:buNone/>
            </a:pPr>
            <a:r>
              <a:rPr lang="en-US" dirty="0"/>
              <a:t>	SQL&gt; select * from student;</a:t>
            </a:r>
          </a:p>
          <a:p>
            <a:r>
              <a:rPr lang="en-US" dirty="0"/>
              <a:t>The statement used a </a:t>
            </a:r>
            <a:r>
              <a:rPr lang="en-US" i="1" dirty="0"/>
              <a:t>wildcard</a:t>
            </a:r>
            <a:r>
              <a:rPr lang="en-US" dirty="0"/>
              <a:t> (*) character, which indicates to Oracle that you want to view data from every column of the table.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/>
              <a:t>Retrieval of Data</a:t>
            </a:r>
            <a:br>
              <a:rPr lang="en-US" sz="2000" b="1" dirty="0"/>
            </a:br>
            <a:r>
              <a:rPr lang="en-US" sz="2000" b="1" dirty="0"/>
              <a:t>Contd..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Limiting Rows</a:t>
            </a:r>
            <a:endParaRPr lang="en-US" dirty="0"/>
          </a:p>
          <a:p>
            <a:pPr algn="just"/>
            <a:r>
              <a:rPr lang="en-US" dirty="0"/>
              <a:t>A WHERE clause is used to limit the number of rows processed. </a:t>
            </a:r>
          </a:p>
          <a:p>
            <a:pPr algn="just"/>
            <a:r>
              <a:rPr lang="en-US" dirty="0"/>
              <a:t>To list of BE class:</a:t>
            </a:r>
          </a:p>
          <a:p>
            <a:pPr algn="just">
              <a:buNone/>
            </a:pPr>
            <a:r>
              <a:rPr lang="en-US" dirty="0"/>
              <a:t>	SQL&gt;SELECT * FROM student WHERE major=‘CS’;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/>
              <a:t>Retrieval of Data</a:t>
            </a:r>
            <a:br>
              <a:rPr lang="en-US" sz="2000" b="1" dirty="0"/>
            </a:br>
            <a:r>
              <a:rPr lang="en-US" sz="2000" b="1" dirty="0"/>
              <a:t>Contd..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Sorting of Records</a:t>
            </a:r>
            <a:endParaRPr lang="en-US" dirty="0"/>
          </a:p>
          <a:p>
            <a:r>
              <a:rPr lang="en-US" dirty="0"/>
              <a:t>The SELECT statement may include the ORDER BY clause to sort the resulting rows in a specific order based on data in the columns. </a:t>
            </a:r>
          </a:p>
          <a:p>
            <a:r>
              <a:rPr lang="en-US" dirty="0"/>
              <a:t>To arrange the records according to ascending order of marks for selection of Name and Class following query is used:</a:t>
            </a:r>
          </a:p>
          <a:p>
            <a:pPr>
              <a:buNone/>
            </a:pPr>
            <a:r>
              <a:rPr lang="en-US" dirty="0"/>
              <a:t>	SQL&gt;Select name, class from student order by marks; </a:t>
            </a:r>
          </a:p>
          <a:p>
            <a:r>
              <a:rPr lang="en-US" dirty="0"/>
              <a:t>To list the all students in the descending order of marks  following query is used: </a:t>
            </a:r>
          </a:p>
          <a:p>
            <a:pPr>
              <a:buNone/>
            </a:pPr>
            <a:r>
              <a:rPr lang="en-US" dirty="0"/>
              <a:t>	SQL&gt;Select * FROM student ORDER BY marks DESC;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Updation</a:t>
            </a:r>
            <a:r>
              <a:rPr lang="en-US" b="1" dirty="0"/>
              <a:t> of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495800" cy="370332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	Syntax: </a:t>
            </a:r>
          </a:p>
          <a:p>
            <a:pPr algn="just">
              <a:buNone/>
            </a:pPr>
            <a:r>
              <a:rPr lang="en-US" dirty="0"/>
              <a:t>	UPDATE table name  </a:t>
            </a:r>
          </a:p>
          <a:p>
            <a:pPr algn="just">
              <a:buNone/>
            </a:pPr>
            <a:r>
              <a:rPr lang="en-US" dirty="0"/>
              <a:t>	SET </a:t>
            </a:r>
          </a:p>
          <a:p>
            <a:pPr algn="just">
              <a:buNone/>
            </a:pPr>
            <a:r>
              <a:rPr lang="en-US" dirty="0"/>
              <a:t>	columnname1 = </a:t>
            </a:r>
            <a:r>
              <a:rPr lang="en-US" dirty="0" err="1"/>
              <a:t>newvalue</a:t>
            </a:r>
            <a:r>
              <a:rPr lang="en-US" dirty="0"/>
              <a:t> </a:t>
            </a:r>
          </a:p>
          <a:p>
            <a:pPr algn="just">
              <a:buNone/>
            </a:pPr>
            <a:r>
              <a:rPr lang="en-US" dirty="0"/>
              <a:t>	[, columnname2 = </a:t>
            </a:r>
            <a:r>
              <a:rPr lang="en-US" dirty="0" err="1"/>
              <a:t>newvalue</a:t>
            </a:r>
            <a:r>
              <a:rPr lang="en-US" dirty="0"/>
              <a:t>, …] </a:t>
            </a:r>
          </a:p>
          <a:p>
            <a:pPr algn="just">
              <a:buNone/>
            </a:pPr>
            <a:r>
              <a:rPr lang="en-US" dirty="0"/>
              <a:t>	[where &lt;condition&gt;];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	SQL&gt;UPDATE student SET marks = 150 where </a:t>
            </a:r>
            <a:r>
              <a:rPr lang="en-US" dirty="0" err="1"/>
              <a:t>Student_ID</a:t>
            </a:r>
            <a:r>
              <a:rPr lang="en-US" dirty="0"/>
              <a:t> =1;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 err="1"/>
              <a:t>Updation</a:t>
            </a:r>
            <a:r>
              <a:rPr lang="en-US" sz="2000" b="1" dirty="0"/>
              <a:t> of data</a:t>
            </a:r>
            <a:br>
              <a:rPr lang="en-US" sz="2000" b="1" dirty="0"/>
            </a:br>
            <a:r>
              <a:rPr lang="en-US" sz="2000" b="1" dirty="0"/>
              <a:t>Contd..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Update several columns in a row</a:t>
            </a:r>
            <a:endParaRPr lang="en-US" dirty="0"/>
          </a:p>
          <a:p>
            <a:pPr algn="just"/>
            <a:r>
              <a:rPr lang="en-US" dirty="0"/>
              <a:t>To update </a:t>
            </a:r>
            <a:r>
              <a:rPr lang="en-US" dirty="0" err="1"/>
              <a:t>DateOfBirth</a:t>
            </a:r>
            <a:r>
              <a:rPr lang="en-US" dirty="0"/>
              <a:t> and Class of ‘David’ following update statement need to be used:</a:t>
            </a:r>
          </a:p>
          <a:p>
            <a:pPr algn="just">
              <a:buNone/>
            </a:pPr>
            <a:r>
              <a:rPr lang="en-US" dirty="0"/>
              <a:t>	SQL&gt; Update </a:t>
            </a:r>
            <a:r>
              <a:rPr lang="en-US" dirty="0" err="1"/>
              <a:t>DateofBirth</a:t>
            </a:r>
            <a:r>
              <a:rPr lang="en-US" dirty="0"/>
              <a:t>=’25-FEB-1990’, Class=’ME’ where name=’David’;</a:t>
            </a:r>
          </a:p>
          <a:p>
            <a:pPr algn="just">
              <a:buNone/>
            </a:pPr>
            <a:r>
              <a:rPr lang="en-US" b="1" dirty="0"/>
              <a:t>Note: </a:t>
            </a:r>
            <a:endParaRPr lang="en-US" dirty="0"/>
          </a:p>
          <a:p>
            <a:pPr algn="just"/>
            <a:r>
              <a:rPr lang="en-US" dirty="0"/>
              <a:t>It is important to provide the character values in same as in which it has been inserted otherwise Oracle will not able to search it and no record will be updated. </a:t>
            </a:r>
          </a:p>
          <a:p>
            <a:pPr algn="just"/>
            <a:r>
              <a:rPr lang="en-US" dirty="0"/>
              <a:t>For example:</a:t>
            </a:r>
          </a:p>
          <a:p>
            <a:pPr algn="just">
              <a:buNone/>
            </a:pPr>
            <a:r>
              <a:rPr lang="en-US" dirty="0"/>
              <a:t>	SQL&gt; Update </a:t>
            </a:r>
            <a:r>
              <a:rPr lang="en-US" dirty="0" err="1"/>
              <a:t>DateOfBirth</a:t>
            </a:r>
            <a:r>
              <a:rPr lang="en-US" dirty="0"/>
              <a:t>=’25-FEB-1990’, Class=’ME’ where name=‘</a:t>
            </a:r>
            <a:r>
              <a:rPr lang="en-US" dirty="0" err="1"/>
              <a:t>david</a:t>
            </a:r>
            <a:r>
              <a:rPr lang="en-US" dirty="0"/>
              <a:t>’;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Deletion of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	Syntax:</a:t>
            </a:r>
          </a:p>
          <a:p>
            <a:pPr>
              <a:buNone/>
            </a:pPr>
            <a:r>
              <a:rPr lang="en-US" dirty="0"/>
              <a:t>	DELETE [FROM] </a:t>
            </a:r>
          </a:p>
          <a:p>
            <a:pPr>
              <a:buNone/>
            </a:pPr>
            <a:r>
              <a:rPr lang="en-US" dirty="0"/>
              <a:t>	&lt;table-name&gt; </a:t>
            </a:r>
          </a:p>
          <a:p>
            <a:pPr>
              <a:buNone/>
            </a:pPr>
            <a:r>
              <a:rPr lang="en-US" dirty="0"/>
              <a:t>	[WHERE &lt;condition&gt;]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Delete all records of student table.</a:t>
            </a:r>
          </a:p>
          <a:p>
            <a:pPr>
              <a:buNone/>
            </a:pPr>
            <a:r>
              <a:rPr lang="en-US" dirty="0"/>
              <a:t>	SQL&gt;DELETE student;</a:t>
            </a:r>
          </a:p>
          <a:p>
            <a:pPr lvl="0"/>
            <a:r>
              <a:rPr lang="en-US" dirty="0"/>
              <a:t>Delete the records of BE students.</a:t>
            </a:r>
          </a:p>
          <a:p>
            <a:pPr>
              <a:buNone/>
            </a:pPr>
            <a:r>
              <a:rPr lang="en-US" dirty="0"/>
              <a:t>	SQL&gt;DELETE FROM student WHERE major=’CS’;</a:t>
            </a:r>
            <a:br>
              <a:rPr lang="en-US" dirty="0"/>
            </a:br>
            <a:r>
              <a:rPr lang="en-US" b="1" dirty="0"/>
              <a:t>Note: </a:t>
            </a:r>
            <a:endParaRPr lang="en-US" dirty="0"/>
          </a:p>
          <a:p>
            <a:r>
              <a:rPr lang="en-US" dirty="0"/>
              <a:t>The FROM clause is optional in DELETE statement. The same task can be performed by using following query:</a:t>
            </a:r>
          </a:p>
          <a:p>
            <a:pPr>
              <a:buNone/>
            </a:pPr>
            <a:r>
              <a:rPr lang="en-US" dirty="0"/>
              <a:t>	SQL&gt;DELETE student WHERE major=’CS’;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/>
              <a:t>Deletion of data</a:t>
            </a:r>
            <a:br>
              <a:rPr lang="en-US" sz="2000" b="1" dirty="0"/>
            </a:br>
            <a:r>
              <a:rPr lang="en-US" sz="2000" b="1" dirty="0"/>
              <a:t>Contd..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Examples:</a:t>
            </a:r>
          </a:p>
          <a:p>
            <a:pPr lvl="0"/>
            <a:r>
              <a:rPr lang="en-US" dirty="0"/>
              <a:t>Delete all records of student table.</a:t>
            </a:r>
          </a:p>
          <a:p>
            <a:pPr>
              <a:buNone/>
            </a:pPr>
            <a:r>
              <a:rPr lang="en-US" dirty="0"/>
              <a:t>	SQL&gt;DELETE student;</a:t>
            </a:r>
          </a:p>
          <a:p>
            <a:pPr lvl="0"/>
            <a:r>
              <a:rPr lang="en-US" dirty="0"/>
              <a:t>Delete the records of CS students.</a:t>
            </a:r>
          </a:p>
          <a:p>
            <a:pPr>
              <a:buNone/>
            </a:pPr>
            <a:r>
              <a:rPr lang="en-US" dirty="0"/>
              <a:t>	SQL&gt;DELETE FROM student WHERE major=’CS’;</a:t>
            </a:r>
            <a:br>
              <a:rPr lang="en-US" dirty="0"/>
            </a:br>
            <a:r>
              <a:rPr lang="en-US" b="1" dirty="0"/>
              <a:t>Note: </a:t>
            </a:r>
            <a:endParaRPr lang="en-US" dirty="0"/>
          </a:p>
          <a:p>
            <a:r>
              <a:rPr lang="en-US" dirty="0"/>
              <a:t>The FROM clause is optional in DELETE statement. The same task can be performed by using following query:</a:t>
            </a:r>
          </a:p>
          <a:p>
            <a:pPr>
              <a:buNone/>
            </a:pPr>
            <a:r>
              <a:rPr lang="en-US" dirty="0"/>
              <a:t>	SQL&gt;DELETE student WHERE major=’CS’;</a:t>
            </a:r>
          </a:p>
          <a:p>
            <a:r>
              <a:rPr lang="en-US" dirty="0"/>
              <a:t>User can always use SELECT statement after delete statement to verify that records have been deleted from database.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We have learned how to perform Creation of table, Insertion of data, retrieval of data, </a:t>
            </a:r>
            <a:r>
              <a:rPr lang="en-US" dirty="0" err="1"/>
              <a:t>Updation</a:t>
            </a:r>
            <a:r>
              <a:rPr lang="en-US" dirty="0"/>
              <a:t> and deletion of data.</a:t>
            </a:r>
          </a:p>
          <a:p>
            <a:pPr algn="just"/>
            <a:r>
              <a:rPr lang="en-US" dirty="0"/>
              <a:t>Simplicity power of non-procedural language SQL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Next Session: Basic SELECT Statement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b73b444cfc7f0163df1406eec3e37871060492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7840</TotalTime>
  <Words>1475</Words>
  <Application>Microsoft Office PowerPoint</Application>
  <PresentationFormat>On-screen Show (16:9)</PresentationFormat>
  <Paragraphs>202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Beginning with SQL</vt:lpstr>
      <vt:lpstr>Objectives</vt:lpstr>
      <vt:lpstr>Introduction to SQL</vt:lpstr>
      <vt:lpstr>SQL is Non Procedural Language </vt:lpstr>
      <vt:lpstr>SQL is Non Procedural Language  Contd..</vt:lpstr>
      <vt:lpstr>Strengths of SQL</vt:lpstr>
      <vt:lpstr>SQL Statements</vt:lpstr>
      <vt:lpstr>Basic Data types of SQL</vt:lpstr>
      <vt:lpstr>Performing Basics operations of database  with SQL</vt:lpstr>
      <vt:lpstr>Performing Basics operations of database </vt:lpstr>
      <vt:lpstr>Step 1: To decide about the name of Columns </vt:lpstr>
      <vt:lpstr>Step 2: To decide about data types of Columns </vt:lpstr>
      <vt:lpstr>Step 3: To decide about size of Columns </vt:lpstr>
      <vt:lpstr>Creation of table</vt:lpstr>
      <vt:lpstr>Description of table Structure</vt:lpstr>
      <vt:lpstr>Insertion of Data</vt:lpstr>
      <vt:lpstr>Insert Statement</vt:lpstr>
      <vt:lpstr>Important Points for Insertion of data</vt:lpstr>
      <vt:lpstr>Insertion of Some more records</vt:lpstr>
      <vt:lpstr>Retrieval of Data</vt:lpstr>
      <vt:lpstr>Retrieval of Data Contd..</vt:lpstr>
      <vt:lpstr>Retrieval of Data Contd..</vt:lpstr>
      <vt:lpstr>Retrieval of Data Contd..</vt:lpstr>
      <vt:lpstr>Retrieval of Data Contd..</vt:lpstr>
      <vt:lpstr>Updation of data</vt:lpstr>
      <vt:lpstr>Updation of data Contd..</vt:lpstr>
      <vt:lpstr>Deletion of data</vt:lpstr>
      <vt:lpstr>Deletion of data Contd..</vt:lpstr>
      <vt:lpstr>Summary</vt:lpstr>
      <vt:lpstr>Thanks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Beginning with SQL</dc:title>
  <dc:creator>Parteek</dc:creator>
  <cp:lastModifiedBy>Parteek Bhatia</cp:lastModifiedBy>
  <cp:revision>26</cp:revision>
  <dcterms:created xsi:type="dcterms:W3CDTF">2016-06-26T12:50:38Z</dcterms:created>
  <dcterms:modified xsi:type="dcterms:W3CDTF">2025-01-07T03:06:43Z</dcterms:modified>
</cp:coreProperties>
</file>